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Intent Accuracy by Category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43A04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6B9-4996-97C5-EB7A3D3690D4}"/>
              </c:ext>
            </c:extLst>
          </c:dPt>
          <c:dPt>
            <c:idx val="1"/>
            <c:invertIfNegative val="0"/>
            <c:bubble3D val="0"/>
            <c:spPr>
              <a:solidFill>
                <a:srgbClr val="2E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6B9-4996-97C5-EB7A3D3690D4}"/>
              </c:ext>
            </c:extLst>
          </c:dPt>
          <c:dPt>
            <c:idx val="2"/>
            <c:invertIfNegative val="0"/>
            <c:bubble3D val="0"/>
            <c:spPr>
              <a:solidFill>
                <a:srgbClr val="2E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6B9-4996-97C5-EB7A3D3690D4}"/>
              </c:ext>
            </c:extLst>
          </c:dPt>
          <c:dPt>
            <c:idx val="3"/>
            <c:invertIfNegative val="0"/>
            <c:bubble3D val="0"/>
            <c:spPr>
              <a:solidFill>
                <a:srgbClr val="2E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6B9-4996-97C5-EB7A3D3690D4}"/>
              </c:ext>
            </c:extLst>
          </c:dPt>
          <c:dPt>
            <c:idx val="4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6B9-4996-97C5-EB7A3D3690D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Overall</c:v>
                </c:pt>
                <c:pt idx="1">
                  <c:v>Crop Rec.</c:v>
                </c:pt>
                <c:pt idx="2">
                  <c:v>Fertilizer</c:v>
                </c:pt>
                <c:pt idx="3">
                  <c:v>Crop Disease</c:v>
                </c:pt>
                <c:pt idx="4">
                  <c:v>Weather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98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6B9-4996-97C5-EB7A3D3690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2"/>
          <c:min val="8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6305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7373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AgriBot v4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English-Language Agricultural Advisory Chatbot for Farmers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8229600" cy="2560320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103119"/>
            <a:ext cx="7680960" cy="2276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 ·  Final-Term Project  ·  Spring 2025-2026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Faculty: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Science &amp; Technology  ·  Department of Computer Science &amp; Engineering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International University-Bangladesh  ·  Dhaka, Bangladesh</a:t>
            </a:r>
          </a:p>
          <a:p>
            <a:pPr marL="0" indent="0">
              <a:buNone/>
            </a:pPr>
            <a:endParaRPr lang="en-US" sz="14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Details: </a:t>
            </a:r>
            <a:endParaRPr lang="en-US" sz="1400" dirty="0"/>
          </a:p>
          <a:p>
            <a:r>
              <a:rPr lang="en-US" sz="1400" dirty="0"/>
              <a:t>Abtahi Islam(23-50434-1), </a:t>
            </a:r>
            <a:r>
              <a:rPr lang="en-US" sz="1400" dirty="0" err="1"/>
              <a:t>Shariar</a:t>
            </a:r>
            <a:r>
              <a:rPr lang="en-US" sz="1400" dirty="0"/>
              <a:t> Hasan Sifat(23-50674-1), Md. </a:t>
            </a:r>
            <a:r>
              <a:rPr lang="en-US" sz="1400" dirty="0" err="1"/>
              <a:t>Mushiur</a:t>
            </a:r>
            <a:r>
              <a:rPr lang="en-US" sz="1400" dirty="0"/>
              <a:t> Rahman(23-5368-1), Md. </a:t>
            </a:r>
            <a:r>
              <a:rPr lang="en-US" sz="1400" dirty="0" err="1"/>
              <a:t>Toyeb</a:t>
            </a:r>
            <a:r>
              <a:rPr lang="en-US" sz="1400" dirty="0"/>
              <a:t> Ali(23-51819-2)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</a:rPr>
              <a:t>NLP Final Project  ·  AgriBot v4  ·  AIUB  ·  Spring 2025-2026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766560" y="457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5010912"/>
            <a:ext cx="5486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</a:rPr>
              <a:t>AgriBot v4  ·  NLP Final Project  ·  AIUB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sections covering the complete system lifecycle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987552"/>
            <a:ext cx="4114800" cy="1143000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987552"/>
            <a:ext cx="502920" cy="11430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26187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1078992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Problem &amp; Motivation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1517904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Why farmers need AI advisory assistance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286000"/>
            <a:ext cx="4114800" cy="1143000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286000"/>
            <a:ext cx="502920" cy="11430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25603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237744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System Architecture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281635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Datasets, pipeline, and technology stack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584448"/>
            <a:ext cx="4114800" cy="1143000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3584448"/>
            <a:ext cx="502920" cy="11430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385876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" y="367588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NLP Intent Models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41148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DistilBERT vs Full BERT comparison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987552"/>
            <a:ext cx="4114800" cy="1143000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0" y="987552"/>
            <a:ext cx="502920" cy="11430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0" y="126187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49240" y="1078992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Recommendation Models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1517904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Random Forest vs XGBoost · Fertilizer model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2286000"/>
            <a:ext cx="4114800" cy="1143000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0" y="2286000"/>
            <a:ext cx="502920" cy="11430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4880" y="25603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349240" y="237744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Disease Detection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49240" y="281635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EfficientNetB0 vs YOLOv8n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3584448"/>
            <a:ext cx="4114800" cy="1143000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54880" y="3584448"/>
            <a:ext cx="502920" cy="11430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54880" y="385876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349240" y="367588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Results, Limitations &amp; Roadmap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49240" y="41148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Evaluation · Limitations · Future work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766560" y="457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of 6  ·  Problem Framing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5010912"/>
            <a:ext cx="5486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</a:rPr>
              <a:t>AgriBot v4  ·  NLP Final Project  ·  AIUB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million smallholder farmers lack timely, accessible agricultural advisory services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4114800" cy="3749040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</a:rPr>
              <a:t>What Farmers Face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41732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</a:rPr>
              <a:t>No access to agronomists — especially in rural areas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</a:rPr>
              <a:t>Crop losses from undiagnosed diseases &amp; wrong fertilizer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</a:rPr>
              <a:t>Weather unpredictability and lack of planting guidance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</a:rPr>
              <a:t>Existing tools require technical vocabulary (N, P, K, pH)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</a:rPr>
              <a:t>Language barriers — English, regional dialects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114800" cy="3749040"/>
          </a:xfrm>
          <a:prstGeom prst="rect">
            <a:avLst/>
          </a:prstGeom>
          <a:solidFill>
            <a:srgbClr val="E3F2FD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</a:rPr>
              <a:t>AgriBot: The Solution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00600" y="1481328"/>
            <a:ext cx="3474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151790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65C0"/>
                </a:solidFill>
              </a:rPr>
              <a:t>🌾  Crop Recommendation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92040" y="18105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Soil &amp; climate-based advice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2258568"/>
            <a:ext cx="3474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229514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65C0"/>
                </a:solidFill>
              </a:rPr>
              <a:t>🧪  Fertilizer Guidance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92040" y="25877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Dosage-specific recommendations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3035808"/>
            <a:ext cx="3474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92040" y="30723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65C0"/>
                </a:solidFill>
              </a:rPr>
              <a:t>🌿  Disease Diagnosis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92040" y="33649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Symptom-based treatment plans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0600" y="3813048"/>
            <a:ext cx="3474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92040" y="38496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65C0"/>
                </a:solidFill>
              </a:rPr>
              <a:t>🌦️  Weather Planning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92040" y="41422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Planting window advice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766560" y="457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6  ·  Technical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5010912"/>
            <a:ext cx="5486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</a:rPr>
              <a:t>AgriBot v4  ·  NLP Final Project  ·  AIUB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AI system: ML models + rule-based reasoning + live weather API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1536192" cy="7132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124712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Farmer Query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145389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Natural English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10512" y="1371600"/>
            <a:ext cx="256032" cy="7315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66544" y="1051560"/>
            <a:ext cx="1536192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66544" y="1124712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DistilBERT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66544" y="145389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Intent Classifier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02736" y="1371600"/>
            <a:ext cx="256032" cy="7315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858768" y="1051560"/>
            <a:ext cx="1536192" cy="7132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58768" y="1124712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Reasoning Engine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58768" y="145389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Rules + Dosage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94960" y="1371600"/>
            <a:ext cx="256032" cy="7315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650992" y="1051560"/>
            <a:ext cx="1536192" cy="7132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50992" y="1124712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ML Models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50992" y="145389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RF / XGB / EfficientNet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187184" y="1371600"/>
            <a:ext cx="256032" cy="7315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443216" y="1051560"/>
            <a:ext cx="1536192" cy="71323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443216" y="1124712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Response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43216" y="145389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Context-aware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1938528"/>
            <a:ext cx="4160520" cy="2724912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09160" y="1938528"/>
            <a:ext cx="4160520" cy="2724912"/>
          </a:xfrm>
          <a:prstGeom prst="rect">
            <a:avLst/>
          </a:prstGeom>
          <a:solidFill>
            <a:srgbClr val="E3F2FD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11480" y="20299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Backend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22860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FastAPI · Python 3.12 · Uvicorn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11480" y="26517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ML Framework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1480" y="29077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scikit-learn · XGBoost · joblib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11480" y="32735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NLP Models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1480" y="352958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DistilBERT 66M · BERT 110M (HuggingFace)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11480" y="389534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Datasets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11480" y="415137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8 CSVs · 30 Indian state profiles (1997-2020)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46320" y="20299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Disease Models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46320" y="22860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EfficientNetB0 (TF) · YOLOv8n (Ultralytics)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46320" y="26517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Weather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46320" y="29077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OpenWeatherMap API · 10-min cache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46320" y="32735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Frontend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46320" y="352958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Vanilla HTML/JS · Single-page chatbot UI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46320" y="38953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46320" y="415137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Google Colab + ngrok · Render (cloud)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Used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766560" y="457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6  ·  Data Foundation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5010912"/>
            <a:ext cx="5486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</a:rPr>
              <a:t>AgriBot v4  ·  NLP Final Project  ·  AIUB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datasets spanning crop science, soil nutrients, weather (1997-2020), and yield data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4114800" cy="822960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033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</a:rPr>
              <a:t>Crop_recommendation.csv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54680" y="1051560"/>
            <a:ext cx="1115568" cy="25603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54680" y="105156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2,200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1399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Crop classifier (primary)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19202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" y="19933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</a:rPr>
              <a:t>Fertilizer Prediction.csv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154680" y="2011680"/>
            <a:ext cx="1115568" cy="25603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154680" y="201168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100,000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2359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Fertilizer baseline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880360"/>
            <a:ext cx="4114800" cy="822960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4048" y="29535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</a:rPr>
              <a:t>data_core.csv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154680" y="2971800"/>
            <a:ext cx="1115568" cy="25603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154680" y="297180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8,000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" y="33192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Fertilizer supplement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84048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4048" y="39136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</a:rPr>
              <a:t>Crop Yield with Soil &amp; Weather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154680" y="3931920"/>
            <a:ext cx="1115568" cy="25603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154680" y="393192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2,596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4048" y="4279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Yield regression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960120"/>
            <a:ext cx="4114800" cy="822960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18888" y="1033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</a:rPr>
              <a:t>crop_yield.csv (India)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589520" y="1051560"/>
            <a:ext cx="1115568" cy="25603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589520" y="105156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19,689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18888" y="1399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Yield stats by crop/state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09160" y="19202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18888" y="19933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</a:rPr>
              <a:t>state_soil_data.csv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589520" y="2011680"/>
            <a:ext cx="1115568" cy="25603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589520" y="201168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30 states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18888" y="2359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Regional soil profiles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09160" y="2880360"/>
            <a:ext cx="4114800" cy="822960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18888" y="29535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</a:rPr>
              <a:t>state_weather_data_1997_2020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589520" y="2971800"/>
            <a:ext cx="1115568" cy="25603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589520" y="297180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720 rows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18888" y="33192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State weather averages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09160" y="384048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18888" y="39136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</a:rPr>
              <a:t>Mendeley Seasonal Dataset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7589520" y="3931920"/>
            <a:ext cx="1115568" cy="25603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589520" y="393192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varies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18888" y="4279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Ethiopia seasonal crop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NLP: Intent Classification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766560" y="457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of 6  ·  NLP Models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5010912"/>
            <a:ext cx="5486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</a:rPr>
              <a:t>AgriBot v4  ·  NLP Final Project  ·  AIUB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(existing) vs Full BERT (new) — trained on 120 base samples × 5× augmentation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4114800" cy="3337560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0241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</a:rPr>
              <a:t>DistilBERT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1389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46E7A"/>
                </a:solidFill>
              </a:rPr>
              <a:t>distilbert-base-uncased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719072"/>
            <a:ext cx="914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17739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</a:rPr>
              <a:t>100%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20848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</a:rPr>
              <a:t>Accuracy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44168" y="1719072"/>
            <a:ext cx="914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44168" y="17739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</a:rPr>
              <a:t>1.0000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44168" y="20848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</a:rPr>
              <a:t>F1-Score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322576" y="1719072"/>
            <a:ext cx="914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22576" y="17739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</a:rPr>
              <a:t>66M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322576" y="20848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</a:rPr>
              <a:t>Params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00984" y="1719072"/>
            <a:ext cx="914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00984" y="17739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</a:rPr>
              <a:t>13.6s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00984" y="20848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</a:rPr>
              <a:t>Train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24871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Production model · 40% smaller · Faster inference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3108960"/>
            <a:ext cx="3840480" cy="20116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3108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 Recommended for deployment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960120"/>
            <a:ext cx="4114800" cy="3337560"/>
          </a:xfrm>
          <a:prstGeom prst="rect">
            <a:avLst/>
          </a:prstGeom>
          <a:solidFill>
            <a:srgbClr val="E3F2FD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10241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5C0"/>
                </a:solidFill>
              </a:rPr>
              <a:t>Full BERT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892040" y="1389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46E7A"/>
                </a:solidFill>
              </a:rPr>
              <a:t>bert-base-uncased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0" y="1719072"/>
            <a:ext cx="914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46320" y="17739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</a:rPr>
              <a:t>100%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46320" y="20848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</a:rPr>
              <a:t>Accuracy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824728" y="1719072"/>
            <a:ext cx="914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824728" y="17739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</a:rPr>
              <a:t>1.0000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824728" y="20848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</a:rPr>
              <a:t>F1-Score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03136" y="1719072"/>
            <a:ext cx="914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803136" y="17739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</a:rPr>
              <a:t>110M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03136" y="20848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</a:rPr>
              <a:t>Params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781544" y="1719072"/>
            <a:ext cx="914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781544" y="17739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</a:rPr>
              <a:t>26.1s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781544" y="20848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</a:rPr>
              <a:t>Train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92040" y="24871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Comparison model · Higher capacity · Slower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92040" y="3108960"/>
            <a:ext cx="3840480" cy="201168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92040" y="3108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Equal accuracy on this task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74320" y="43708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</a:rPr>
              <a:t>4 Intent Classes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4572000"/>
            <a:ext cx="2057400" cy="2560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74320" y="45720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crop_recommendation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468880" y="4572000"/>
            <a:ext cx="205740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468880" y="45720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fertilizer_advice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63440" y="4572000"/>
            <a:ext cx="2057400" cy="2560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663440" y="45720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crop_disease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58000" y="4572000"/>
            <a:ext cx="2057400" cy="2560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858000" y="45720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weather_planting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Crop Recommendation — RF vs XGBoost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766560" y="457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of 6  ·  Recommendation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5010912"/>
            <a:ext cx="5486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</a:rPr>
              <a:t>AgriBot v4  ·  NLP Final Project  ·  AIUB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dataset · 80/20 split · 2200 samples · 22 crop classes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1920240" cy="1234440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033272"/>
            <a:ext cx="19202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</a:rPr>
              <a:t>99.55%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20040" y="1676095"/>
            <a:ext cx="192024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</a:rPr>
              <a:t>RF Accuracy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77440" y="960120"/>
            <a:ext cx="1920240" cy="1234440"/>
          </a:xfrm>
          <a:prstGeom prst="rect">
            <a:avLst/>
          </a:prstGeom>
          <a:solidFill>
            <a:srgbClr val="E3F2FD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377440" y="1033272"/>
            <a:ext cx="19202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</a:rPr>
              <a:t>99.32%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377440" y="1676095"/>
            <a:ext cx="192024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</a:rPr>
              <a:t>XGB Accuracy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34840" y="960120"/>
            <a:ext cx="1920240" cy="1234440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434840" y="1033272"/>
            <a:ext cx="19202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</a:rPr>
              <a:t>22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434840" y="1676095"/>
            <a:ext cx="192024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</a:rPr>
              <a:t>Crop Classes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92240" y="960120"/>
            <a:ext cx="1920240" cy="123444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92240" y="1033272"/>
            <a:ext cx="19202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</a:rPr>
              <a:t>0.9945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492240" y="1676095"/>
            <a:ext cx="192024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</a:rPr>
              <a:t>RF CV Mean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331720"/>
          <a:ext cx="8503920" cy="23317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31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Random Forest (Baseline)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XGBoost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Winner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Accuracy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0.9955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0.9932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E7D32"/>
                          </a:solidFill>
                        </a:rPr>
                        <a:t>RF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Precision (macro)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0.9957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0.9935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E7D32"/>
                          </a:solidFill>
                        </a:rPr>
                        <a:t>RF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Recall (macro)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0.9955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0.9932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E7D32"/>
                          </a:solidFill>
                        </a:rPr>
                        <a:t>RF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F1-Score (macro)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0.9955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0.9931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E7D32"/>
                          </a:solidFill>
                        </a:rPr>
                        <a:t>RF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CV Mean (5-fold)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0.9945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0.9941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E7D32"/>
                          </a:solidFill>
                        </a:rPr>
                        <a:t>≈ Equal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Train Time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1.4s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7.7s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E7D32"/>
                          </a:solidFill>
                        </a:rPr>
                        <a:t>RF (faster)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Fertilizer Recommendation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766560" y="457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of 6  ·  Recommendation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5010912"/>
            <a:ext cx="5486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</a:rPr>
              <a:t>AgriBot v4  ·  NLP Final Project  ·  AIUB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Agronomic rule-based synthetic training data — N/P/K deficit logic → fertilizer class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1920240" cy="1234440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033272"/>
            <a:ext cx="19202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</a:rPr>
              <a:t>97.6%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20040" y="1676095"/>
            <a:ext cx="192024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</a:rPr>
              <a:t>Test Accuracy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77440" y="960120"/>
            <a:ext cx="1920240" cy="1234440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377440" y="1033272"/>
            <a:ext cx="19202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</a:rPr>
              <a:t>11,000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377440" y="1676095"/>
            <a:ext cx="192024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</a:rPr>
              <a:t>Training Rows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34840" y="960120"/>
            <a:ext cx="1920240" cy="1234440"/>
          </a:xfrm>
          <a:prstGeom prst="rect">
            <a:avLst/>
          </a:prstGeom>
          <a:solidFill>
            <a:srgbClr val="E3F2FD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434840" y="1033272"/>
            <a:ext cx="19202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</a:rPr>
              <a:t>7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434840" y="1676095"/>
            <a:ext cx="192024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</a:rPr>
              <a:t>Fertilizer Classes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92240" y="960120"/>
            <a:ext cx="1920240" cy="123444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92240" y="1033272"/>
            <a:ext cx="19202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</a:rPr>
              <a:t>5×11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492240" y="1676095"/>
            <a:ext cx="192024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</a:rPr>
              <a:t>Soil×Crop Combos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331720"/>
            <a:ext cx="4114800" cy="2331720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23957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Why Synthetic Data?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2761488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Original 100k dataset: same N/P/K mapped to all 7 fertilizers randomly → model accuracy only 14%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Root cause: randomly assigned labels, zero agronomic logic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Fix: N/P/K deficit rules derived from real crop demand vs soil supply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Result: 97.6% accuracy, trains in 3 seconds, no RAM overflow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331720"/>
            <a:ext cx="4114800" cy="2331720"/>
          </a:xfrm>
          <a:prstGeom prst="rect">
            <a:avLst/>
          </a:prstGeom>
          <a:solidFill>
            <a:srgbClr val="E3F2FD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0" y="23957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Agronomic Assignment Rules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2779776"/>
            <a:ext cx="1097280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27797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Urea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16752" y="27797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High N deficit only (N &gt; 40)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3081528"/>
            <a:ext cx="1097280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46320" y="30815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DAP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016752" y="30815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N + P deficit, N &lt; 55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3383280"/>
            <a:ext cx="1097280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46320" y="33832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28-28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016752" y="33832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High N + P, N ≥ 55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3685032"/>
            <a:ext cx="1097280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46320" y="36850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14-35-14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016752" y="36850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N + P + K deficit, K &lt; 50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3986784"/>
            <a:ext cx="1097280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46320" y="39867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10-26-26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016752" y="398678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High P + K deficit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4288536"/>
            <a:ext cx="1097280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46320" y="42885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17-17-17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016752" y="428853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Balanced / default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 Disease Detection — EfficientNet vs YOLO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766560" y="457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6  ·  Disease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5010912"/>
            <a:ext cx="5486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</a:rPr>
              <a:t>AgriBot v4  ·  NLP Final Project  ·  AIUB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sub-tasks: image classification (EfficientNet) vs object detection (YOLO)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4114800" cy="3703320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</a:rPr>
              <a:t>EfficientNetB0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1325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E7D32"/>
                </a:solidFill>
              </a:rPr>
              <a:t>Plant Disease CLASSIFICATION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15727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PlantVillage — 54,306 images · 38 classes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883664"/>
            <a:ext cx="914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19385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</a:rPr>
              <a:t>98.43%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22494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</a:rPr>
              <a:t>Accuracy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344168" y="1883664"/>
            <a:ext cx="914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44168" y="19385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</a:rPr>
              <a:t>0.9835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44168" y="22494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</a:rPr>
              <a:t>F1-Score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322576" y="1883664"/>
            <a:ext cx="914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322576" y="19385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</a:rPr>
              <a:t>98.48%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322576" y="22494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</a:rPr>
              <a:t>Precision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00984" y="1883664"/>
            <a:ext cx="914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00984" y="19385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</a:rPr>
              <a:t>98.31%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00984" y="22494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</a:rPr>
              <a:t>Recall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2633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ImageNet → fine-tuned (2 phases)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29443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Best for: mobile app, single-leaf images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3429000"/>
            <a:ext cx="3840480" cy="22860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3429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Winner: Classification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960120"/>
            <a:ext cx="4114800" cy="3703320"/>
          </a:xfrm>
          <a:prstGeom prst="rect">
            <a:avLst/>
          </a:prstGeom>
          <a:solidFill>
            <a:srgbClr val="E3F2FD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92040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5C0"/>
                </a:solidFill>
              </a:rPr>
              <a:t>YOLOv8n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892040" y="1325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565C0"/>
                </a:solidFill>
              </a:rPr>
              <a:t>Plant Disease DETECTION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92040" y="15727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PlantDoc — 2,569 images · 27 classes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1883664"/>
            <a:ext cx="914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46320" y="19385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</a:rPr>
              <a:t>72.10%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46320" y="22494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</a:rPr>
              <a:t>mAP@50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824728" y="1883664"/>
            <a:ext cx="914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824728" y="19385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</a:rPr>
              <a:t>0.713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824728" y="22494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</a:rPr>
              <a:t>F1-Score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803136" y="1883664"/>
            <a:ext cx="914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803136" y="19385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</a:rPr>
              <a:t>74.80%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803136" y="22494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</a:rPr>
              <a:t>Precision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781544" y="1883664"/>
            <a:ext cx="914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781544" y="19385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</a:rPr>
              <a:t>68.10%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781544" y="22494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</a:rPr>
              <a:t>Recall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92040" y="2633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COCO → fine-tuned (50 epochs)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892040" y="29443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Best for: field camera, multiple lesions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92040" y="3429000"/>
            <a:ext cx="3840480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92040" y="3429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Winner: Detection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74320" y="46908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46E7A"/>
                </a:solidFill>
              </a:rPr>
              <a:t>Note: These models address different tasks. EfficientNet classifies the disease type; YOLO locates where the disease appears in the image.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766560" y="457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6  ·  Results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5010912"/>
            <a:ext cx="5486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</a:rPr>
              <a:t>AgriBot v4  ·  NLP Final Project  ·  AIUB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tasks evaluated — slide-ready results from final_comparison_summary.json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05840"/>
          <a:ext cx="8503920" cy="365760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Model A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Model B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Key Metric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Winner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Crop Recommendation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RF (Baseline)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XGBoost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Acc: 99.55% vs 99.32%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NLP Intent Class.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DistilBERT (66M)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BERT (110M)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Both: 100% · RF faster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DistilBERT 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Disease Classification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EfficientNetB0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Acc: 98.43%, F1: 0.9835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EfficientNet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Disease Detection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YOLOv8n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mAP@50: 72.1%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YOLO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Fertilizer Rec.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RF (Agronomic)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Acc: 97.60%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Yield Prediction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RF Regressor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R² = 0.9908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RF Regressor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68172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46E7A"/>
                </a:solidFill>
              </a:rPr>
              <a:t>★ DistilBERT recommended for production: same accuracy, 40% fewer parameters, 2× faster inference.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Evaluation: 100 Farmer Queries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766560" y="457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6  ·  Results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5010912"/>
            <a:ext cx="5486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</a:rPr>
              <a:t>AgriBot v4  ·  NLP Final Project  ·  AIUB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tested against 25 queries per intent — realistic natural language, informal phrasing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1920240" cy="1234440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033272"/>
            <a:ext cx="19202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</a:rPr>
              <a:t>98%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20040" y="1676095"/>
            <a:ext cx="192024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</a:rPr>
              <a:t>Overall Accuracy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77440" y="960120"/>
            <a:ext cx="1920240" cy="123444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377440" y="1033272"/>
            <a:ext cx="19202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</a:rPr>
              <a:t>100%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377440" y="1676095"/>
            <a:ext cx="192024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</a:rPr>
              <a:t>Crop Intent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34840" y="960120"/>
            <a:ext cx="1920240" cy="123444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434840" y="1033272"/>
            <a:ext cx="19202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</a:rPr>
              <a:t>100%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434840" y="1676095"/>
            <a:ext cx="192024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</a:rPr>
              <a:t>Fertilizer Intent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92240" y="960120"/>
            <a:ext cx="1920240" cy="123444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92240" y="1033272"/>
            <a:ext cx="19202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</a:rPr>
              <a:t>100%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492240" y="1676095"/>
            <a:ext cx="192024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</a:rPr>
              <a:t>Disease Intent</a:t>
            </a:r>
            <a:endParaRPr lang="en-US" sz="11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320040" y="2331720"/>
          <a:ext cx="50292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8"/>
          <p:cNvSpPr/>
          <p:nvPr/>
        </p:nvSpPr>
        <p:spPr>
          <a:xfrm>
            <a:off x="5577840" y="2331720"/>
            <a:ext cx="3246120" cy="2331720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715000" y="239572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Key Observations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715000" y="2761488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Perfect classification on 3 of 4 intents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Weather queries scored 92% — most ambiguous category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Natural informal language handled correctly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State-based queries used real 1997-2020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Reasoning engine handled dosage queries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Components: Reasoning Engine &amp; Weather API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766560" y="457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6  ·  Features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5010912"/>
            <a:ext cx="5486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</a:rPr>
              <a:t>AgriBot v4  ·  NLP Final Project  ·  AIUB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major additions that address the most critical gaps in v3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4114800" cy="3703320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005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</a:rPr>
              <a:t>⚙️  Rule-Based Reasoning Engine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50876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Dosage logic: "How much urea per acre?" → "Rice: 80-100 kg/acre (split)"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Suitability check: 38°C → "Too hot for rice; try sorghum or millet"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Soil compatibility: sandy + potato → practical suitability advice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Confidence routing: ML &lt; 75% → rule-based fallback activates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5 intent types including new: pest_control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4114800" cy="3703320"/>
          </a:xfrm>
          <a:prstGeom prst="rect">
            <a:avLst/>
          </a:prstGeom>
          <a:solidFill>
            <a:srgbClr val="E3F2FD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1005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</a:rPr>
              <a:t>🌦️  OpenWeatherMap API Integration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50876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Live current weather for any city (temperature, humidity, rainfall)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5-day forecast with daily summaries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Planting window: good / caution / delay based on real conditions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10-minute in-memory cache (rate-limit safe)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Configurable via OPENWEATHER_API_KEY env variable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46908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46E7A"/>
                </a:solidFill>
              </a:rPr>
              <a:t>Both components are modular, independently testable, and documented with API routes at /reasoning/* and /weather/*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766560" y="457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of 6  ·  Critical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5010912"/>
            <a:ext cx="5486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</a:rPr>
              <a:t>AgriBot v4  ·  NLP Final Project  ·  AIUB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 of what the current system cannot yet handle reliably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987552"/>
            <a:ext cx="2788920" cy="1572768"/>
          </a:xfrm>
          <a:prstGeom prst="rect">
            <a:avLst/>
          </a:prstGeom>
          <a:solidFill>
            <a:srgbClr val="FFF3E0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987552"/>
            <a:ext cx="2788920" cy="914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1247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</a:rPr>
              <a:t>Wrong Intent Routing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4630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Pest queries ("aphids killing crop") misclassified as fertilizer_advice. Intent classifier lacks a dedicated pest_control class.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18688" y="987552"/>
            <a:ext cx="2788920" cy="1572768"/>
          </a:xfrm>
          <a:prstGeom prst="rect">
            <a:avLst/>
          </a:prstGeom>
          <a:solidFill>
            <a:srgbClr val="FFF3E0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18688" y="987552"/>
            <a:ext cx="2788920" cy="914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10128" y="11247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</a:rPr>
              <a:t>Overconfident Wrong Answers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0128" y="14630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Model assigns 75%+ confidence even when the response is irrelevant. No calibration or abstention mechanism exists.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63056" y="987552"/>
            <a:ext cx="2788920" cy="1572768"/>
          </a:xfrm>
          <a:prstGeom prst="rect">
            <a:avLst/>
          </a:prstGeom>
          <a:solidFill>
            <a:srgbClr val="FFF3E0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63056" y="987552"/>
            <a:ext cx="2788920" cy="914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54496" y="11247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</a:rPr>
              <a:t>Context Not Used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54496" y="14630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"How much urea for rice?" → random NPK list instead of dosage. Model classifies intent but does not reason about the specific question asked.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706624"/>
            <a:ext cx="2788920" cy="1572768"/>
          </a:xfrm>
          <a:prstGeom prst="rect">
            <a:avLst/>
          </a:prstGeom>
          <a:solidFill>
            <a:srgbClr val="FFF3E0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2706624"/>
            <a:ext cx="2788920" cy="914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284378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</a:rPr>
              <a:t>Generic Fallback Overuse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18211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When parameters are missing, chatbot returns the same generic help text instead of asking targeted follow-up questions.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18688" y="2706624"/>
            <a:ext cx="2788920" cy="1572768"/>
          </a:xfrm>
          <a:prstGeom prst="rect">
            <a:avLst/>
          </a:prstGeom>
          <a:solidFill>
            <a:srgbClr val="FFF3E0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18688" y="2706624"/>
            <a:ext cx="2788920" cy="914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10128" y="284378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</a:rPr>
              <a:t>Weather Answers Too Broad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10128" y="318211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Advice for "heavy rain" is identical regardless of crop type. Weather response lacks crop-specific sensitivity.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63056" y="2706624"/>
            <a:ext cx="2788920" cy="1572768"/>
          </a:xfrm>
          <a:prstGeom prst="rect">
            <a:avLst/>
          </a:prstGeom>
          <a:solidFill>
            <a:srgbClr val="FFF3E0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163056" y="2706624"/>
            <a:ext cx="2788920" cy="914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54496" y="284378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</a:rPr>
              <a:t>Small Knowledge Base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54496" y="318211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Disease KB covers ~15 keywords. Disease detection (EfficientNet/YOLO) requires real PlantVillage dataset for deployment.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766560" y="457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of 6  ·  Next Steps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5010912"/>
            <a:ext cx="5486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</a:rPr>
              <a:t>AgriBot v4  ·  NLP Final Project  ·  AIUB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limitations and expanding capabilities based on real-world farmer needs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987552"/>
            <a:ext cx="2788920" cy="1627632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07899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🌐  Multilingual Support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490472"/>
            <a:ext cx="2606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Train on Bengali + Hindi + 5 regional languages using mBERT or XLM-R. Serve farmers who cannot read English.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18688" y="987552"/>
            <a:ext cx="2788920" cy="1627632"/>
          </a:xfrm>
          <a:prstGeom prst="rect">
            <a:avLst/>
          </a:prstGeom>
          <a:solidFill>
            <a:srgbClr val="E3F2FD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10128" y="107899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📊  Feedback Data Pipeline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1490472"/>
            <a:ext cx="2606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Store every query + response. Build user accounts. Use real farmer conversations to retrain monthly → continuous improvement.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63056" y="987552"/>
            <a:ext cx="2788920" cy="1627632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54496" y="107899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🎯  Fix Intent + Add Pest Control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54496" y="1490472"/>
            <a:ext cx="2606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Add pest_control as the 5th intent class. Expand training data to 500+ samples per intent. Target 95%+ on real farmer queries.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770632"/>
            <a:ext cx="2788920" cy="1627632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28620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🤖  LLM Integration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273552"/>
            <a:ext cx="2606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Replace template responses with a small fine-tuned LLM (Llama 3.1 8B). Context-aware multi-turn conversation.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18688" y="2770632"/>
            <a:ext cx="2788920" cy="1627632"/>
          </a:xfrm>
          <a:prstGeom prst="rect">
            <a:avLst/>
          </a:prstGeom>
          <a:solidFill>
            <a:srgbClr val="E3F2FD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10128" y="28620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📱  Mobile App + Voice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10128" y="3273552"/>
            <a:ext cx="2606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Flutter mobile app with voice input (Whisper ASR). Offline mode with quantized models for areas with poor connectivity.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63056" y="2770632"/>
            <a:ext cx="2788920" cy="1627632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54496" y="28620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🌿  Real Disease Dataset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54496" y="3273552"/>
            <a:ext cx="2606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Train EfficientNet and YOLO on PlantVillage (54k) + PlantDoc (2.5k). Deploy image upload in chatbot UI.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Development Roadmap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766560" y="457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of 6  ·  Vision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5010912"/>
            <a:ext cx="5486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</a:rPr>
              <a:t>AgriBot v4  ·  NLP Final Project  ·  AIUB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milestones: fix foundations → expand capabilities → scale to real users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196596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9601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Q1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126187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Foundation Fixes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40280" y="1234440"/>
            <a:ext cx="182880" cy="54864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572768"/>
            <a:ext cx="1965960" cy="3090672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" y="162763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5E20"/>
                </a:solidFill>
              </a:rPr>
              <a:t>Months 1–3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" y="1901952"/>
            <a:ext cx="1810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Fix wrong intent routing; add pest_control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Calibrate confidence scores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Deploy real disease dataset training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23160" y="960120"/>
            <a:ext cx="1965960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23160" y="9601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Q2 2026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23160" y="126187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Intelligence Upgrade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89120" y="1234440"/>
            <a:ext cx="182880" cy="54864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423160" y="1572768"/>
            <a:ext cx="1965960" cy="3090672"/>
          </a:xfrm>
          <a:prstGeom prst="rect">
            <a:avLst/>
          </a:prstGeom>
          <a:solidFill>
            <a:srgbClr val="E3F2FD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496312" y="162763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</a:rPr>
              <a:t>Months 4–6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96312" y="1901952"/>
            <a:ext cx="1810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Integrate LLM for context-aware responses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Build feedback data pipeline + user accounts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Multi-turn conversation memory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0" y="960120"/>
            <a:ext cx="1965960" cy="56692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0" y="9601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Q3 2026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0" y="126187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Multilingual Expansion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37960" y="1234440"/>
            <a:ext cx="182880" cy="54864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0" y="1572768"/>
            <a:ext cx="1965960" cy="3090672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45152" y="162763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95C"/>
                </a:solidFill>
              </a:rPr>
              <a:t>Months 7–9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45152" y="1901952"/>
            <a:ext cx="1810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Bengali + Hindi language support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mBERT / XLM-R fine-tuning on local data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Voice input via Whisper ASR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720840" y="960120"/>
            <a:ext cx="1965960" cy="56692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720840" y="9601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Q4 2026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20840" y="126187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Scale &amp; Deploy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720840" y="1572768"/>
            <a:ext cx="1965960" cy="3090672"/>
          </a:xfrm>
          <a:prstGeom prst="rect">
            <a:avLst/>
          </a:prstGeom>
          <a:solidFill>
            <a:srgbClr val="E3F2FD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793992" y="162763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3A047"/>
                </a:solidFill>
              </a:rPr>
              <a:t>Months 10–12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93992" y="1901952"/>
            <a:ext cx="1810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Flutter mobile app release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Partner with 3+ agricultural NGOs in Bangladesh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Monthly self-retraining pipeline live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" y="4663440"/>
            <a:ext cx="8595360" cy="292608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D32"/>
                </a:solidFill>
              </a:rPr>
              <a:t>Success metric: 1,000 active farmers using AgriBot monthly by December 2026 · Accuracy ≥ 95% on real-world queries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Takeaways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56032" y="868680"/>
            <a:ext cx="1627632" cy="1078992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941832"/>
            <a:ext cx="1627632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</a:rPr>
              <a:t>99.55%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56032" y="1494495"/>
            <a:ext cx="1627632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</a:rPr>
              <a:t>Crop Accuracy (RF)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93392" y="868680"/>
            <a:ext cx="1627632" cy="1078992"/>
          </a:xfrm>
          <a:prstGeom prst="rect">
            <a:avLst/>
          </a:prstGeom>
          <a:solidFill>
            <a:srgbClr val="E3F2FD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993392" y="941832"/>
            <a:ext cx="1627632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</a:rPr>
              <a:t>97.60%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993392" y="1494495"/>
            <a:ext cx="1627632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</a:rPr>
              <a:t>Fertilizer Accuracy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30752" y="868680"/>
            <a:ext cx="1627632" cy="1078992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30752" y="941832"/>
            <a:ext cx="1627632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</a:rPr>
              <a:t>98.43%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730752" y="1494495"/>
            <a:ext cx="1627632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</a:rPr>
              <a:t>Disease Classification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68112" y="868680"/>
            <a:ext cx="1627632" cy="1078992"/>
          </a:xfrm>
          <a:prstGeom prst="rect">
            <a:avLst/>
          </a:prstGeom>
          <a:solidFill>
            <a:srgbClr val="E3F2FD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68112" y="941832"/>
            <a:ext cx="1627632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</a:rPr>
              <a:t>100%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468112" y="1494495"/>
            <a:ext cx="1627632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</a:rPr>
              <a:t>NLP Intent (DistilBERT)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05472" y="868680"/>
            <a:ext cx="1627632" cy="1078992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05472" y="941832"/>
            <a:ext cx="1627632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</a:rPr>
              <a:t>98%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205472" y="1494495"/>
            <a:ext cx="1627632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</a:rPr>
              <a:t>Live Test (100 queries)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2029968"/>
            <a:ext cx="4114800" cy="2633472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93192" y="20848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What We Built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3192" y="2450592"/>
            <a:ext cx="384048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Hybrid AI system: ML + rules + live weather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5 trained models with full comparison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Reasoning engine for dosage &amp; suitability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30-state Indian soil/weather profiles (1997-2020)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100-query evaluation framework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Production-ready FastAPI chatbot API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81728" y="2029968"/>
            <a:ext cx="4114800" cy="2633472"/>
          </a:xfrm>
          <a:prstGeom prst="rect">
            <a:avLst/>
          </a:prstGeom>
          <a:solidFill>
            <a:srgbClr val="E3F2FD"/>
          </a:solidFill>
          <a:ln w="12700">
            <a:solidFill>
              <a:srgbClr val="C8E6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18888" y="20848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Next Priority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18888" y="2450592"/>
            <a:ext cx="384048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Fix intent routing — add pest_control class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Confidence calibration to reduce wrong answers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LLM integration for context-aware responses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Bengali / multilingual support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Real PlantVillage training for disease models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Partner with agricultural NGOs for real data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</a:rPr>
              <a:t>Thank you  ·  Questions welcome  ·  AgriBot v4  ·  NLP Final Project  ·  AIUB Spring 2025-2026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2063</Words>
  <Application>Microsoft Office PowerPoint</Application>
  <PresentationFormat>On-screen Show (16:9)</PresentationFormat>
  <Paragraphs>425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AgriBot v4 — Agricultural Advisory Chatbot</dc:title>
  <dc:subject>PptxGenJS Presentation</dc:subject>
  <dc:creator>PptxGenJS</dc:creator>
  <cp:lastModifiedBy>ABTAHI ISLAM</cp:lastModifiedBy>
  <cp:revision>2</cp:revision>
  <dcterms:created xsi:type="dcterms:W3CDTF">2026-05-04T20:17:37Z</dcterms:created>
  <dcterms:modified xsi:type="dcterms:W3CDTF">2026-05-05T02:34:21Z</dcterms:modified>
</cp:coreProperties>
</file>